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8" r:id="rId3"/>
    <p:sldId id="269" r:id="rId4"/>
    <p:sldId id="282" r:id="rId5"/>
    <p:sldId id="283" r:id="rId6"/>
    <p:sldId id="284" r:id="rId7"/>
    <p:sldId id="285" r:id="rId8"/>
    <p:sldId id="292" r:id="rId9"/>
    <p:sldId id="287" r:id="rId10"/>
    <p:sldId id="288" r:id="rId11"/>
    <p:sldId id="293" r:id="rId12"/>
    <p:sldId id="289" r:id="rId13"/>
    <p:sldId id="290" r:id="rId14"/>
    <p:sldId id="291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 snapToGrid="0">
      <p:cViewPr>
        <p:scale>
          <a:sx n="75" d="100"/>
          <a:sy n="75" d="100"/>
        </p:scale>
        <p:origin x="15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831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895A5-E90E-45A6-8EC9-92031BC7B8C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6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8C6266-286A-58EB-7775-ADFE1C74467F}"/>
              </a:ext>
            </a:extLst>
          </p:cNvPr>
          <p:cNvSpPr/>
          <p:nvPr/>
        </p:nvSpPr>
        <p:spPr>
          <a:xfrm flipV="1">
            <a:off x="7213600" y="3810001"/>
            <a:ext cx="4978400" cy="9101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2CEEF8-B9C1-26DD-9DBF-43AC2F64AD8E}"/>
              </a:ext>
            </a:extLst>
          </p:cNvPr>
          <p:cNvSpPr/>
          <p:nvPr/>
        </p:nvSpPr>
        <p:spPr>
          <a:xfrm flipV="1">
            <a:off x="7213600" y="3896784"/>
            <a:ext cx="4978400" cy="192616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11452-CF08-E68A-4F8F-AE1FDC5A1817}"/>
              </a:ext>
            </a:extLst>
          </p:cNvPr>
          <p:cNvSpPr/>
          <p:nvPr/>
        </p:nvSpPr>
        <p:spPr>
          <a:xfrm flipV="1">
            <a:off x="7213600" y="4114800"/>
            <a:ext cx="4978400" cy="8467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87C085-0BA3-3097-D18B-D2361D4B3F4F}"/>
              </a:ext>
            </a:extLst>
          </p:cNvPr>
          <p:cNvSpPr/>
          <p:nvPr/>
        </p:nvSpPr>
        <p:spPr>
          <a:xfrm flipV="1">
            <a:off x="7213601" y="4163485"/>
            <a:ext cx="2620433" cy="19049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E3C058-D704-FB6B-C7B6-6ED0BF00B77D}"/>
              </a:ext>
            </a:extLst>
          </p:cNvPr>
          <p:cNvSpPr/>
          <p:nvPr/>
        </p:nvSpPr>
        <p:spPr>
          <a:xfrm flipV="1">
            <a:off x="7213601" y="4199467"/>
            <a:ext cx="2620433" cy="8467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 useBgFill="1">
        <p:nvSpPr>
          <p:cNvPr id="7" name="Rounded Rectangle 26">
            <a:extLst>
              <a:ext uri="{FF2B5EF4-FFF2-40B4-BE49-F238E27FC236}">
                <a16:creationId xmlns:a16="http://schemas.microsoft.com/office/drawing/2014/main" id="{87D44B93-80FC-1CE7-6027-17CC3040B5C6}"/>
              </a:ext>
            </a:extLst>
          </p:cNvPr>
          <p:cNvSpPr/>
          <p:nvPr/>
        </p:nvSpPr>
        <p:spPr bwMode="white">
          <a:xfrm>
            <a:off x="7213601" y="3962400"/>
            <a:ext cx="4085167" cy="27517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 useBgFill="1">
        <p:nvSpPr>
          <p:cNvPr id="10" name="Rounded Rectangle 40">
            <a:extLst>
              <a:ext uri="{FF2B5EF4-FFF2-40B4-BE49-F238E27FC236}">
                <a16:creationId xmlns:a16="http://schemas.microsoft.com/office/drawing/2014/main" id="{31426B64-8443-E33B-130D-968ABA10B684}"/>
              </a:ext>
            </a:extLst>
          </p:cNvPr>
          <p:cNvSpPr/>
          <p:nvPr/>
        </p:nvSpPr>
        <p:spPr bwMode="white">
          <a:xfrm>
            <a:off x="9836151" y="4061885"/>
            <a:ext cx="2133600" cy="3598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8B3639-ED6A-0BCB-11CA-91855177BEE7}"/>
              </a:ext>
            </a:extLst>
          </p:cNvPr>
          <p:cNvSpPr/>
          <p:nvPr/>
        </p:nvSpPr>
        <p:spPr>
          <a:xfrm>
            <a:off x="0" y="3649134"/>
            <a:ext cx="12192000" cy="245533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419B1-E450-50F7-2D46-5CA6F1E099A1}"/>
              </a:ext>
            </a:extLst>
          </p:cNvPr>
          <p:cNvSpPr/>
          <p:nvPr/>
        </p:nvSpPr>
        <p:spPr>
          <a:xfrm>
            <a:off x="0" y="3674534"/>
            <a:ext cx="12192000" cy="14181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A286E0-EEC4-EFF7-6071-11239294DEC5}"/>
              </a:ext>
            </a:extLst>
          </p:cNvPr>
          <p:cNvSpPr/>
          <p:nvPr/>
        </p:nvSpPr>
        <p:spPr>
          <a:xfrm flipV="1">
            <a:off x="8551333" y="3642784"/>
            <a:ext cx="3640667" cy="24976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5F5AFB-2778-AD3E-8B67-502271241A1E}"/>
              </a:ext>
            </a:extLst>
          </p:cNvPr>
          <p:cNvSpPr/>
          <p:nvPr/>
        </p:nvSpPr>
        <p:spPr>
          <a:xfrm>
            <a:off x="0" y="0"/>
            <a:ext cx="12192000" cy="3702051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401889"/>
            <a:ext cx="11277600" cy="1470025"/>
          </a:xfrm>
        </p:spPr>
        <p:txBody>
          <a:bodyPr anchor="b"/>
          <a:lstStyle>
            <a:lvl1pPr>
              <a:defRPr sz="58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7"/>
            <a:ext cx="6604000" cy="1752600"/>
          </a:xfrm>
        </p:spPr>
        <p:txBody>
          <a:bodyPr/>
          <a:lstStyle>
            <a:lvl1pPr marL="85342" indent="0" algn="l">
              <a:buNone/>
              <a:defRPr sz="3200">
                <a:solidFill>
                  <a:schemeClr val="tx2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F75B0D57-1FFB-9323-D9AC-6345149B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0800" y="4205817"/>
            <a:ext cx="1280584" cy="457200"/>
          </a:xfrm>
        </p:spPr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16" name="Footer Placeholder 16">
            <a:extLst>
              <a:ext uri="{FF2B5EF4-FFF2-40B4-BE49-F238E27FC236}">
                <a16:creationId xmlns:a16="http://schemas.microsoft.com/office/drawing/2014/main" id="{C8E7E6D8-D836-005F-4F7A-9FE564E7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3600" y="4205817"/>
            <a:ext cx="1727200" cy="457200"/>
          </a:xfr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7" name="Slide Number Placeholder 28">
            <a:extLst>
              <a:ext uri="{FF2B5EF4-FFF2-40B4-BE49-F238E27FC236}">
                <a16:creationId xmlns:a16="http://schemas.microsoft.com/office/drawing/2014/main" id="{DE230E8C-6BCB-C379-353A-7A5CF3EF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3451" y="2117"/>
            <a:ext cx="996949" cy="3640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04926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7E3D49F-ABCD-8CBE-D9DE-A36F0BA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BC70670-0BA7-F3A3-4164-E2A3A081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6E361C9-58D8-F49E-BE0B-5EF18E2B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24545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5733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/>
          <a:lstStyle>
            <a:lvl1pPr marL="60958" indent="0">
              <a:buNone/>
              <a:defRPr sz="2800" b="0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7A3D844E-1CD5-C380-7EBA-04786EEA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EAE3F3F-F666-AE3A-4728-95F0502A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9F3273EC-2E94-BF35-C748-78C6147F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621691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667"/>
            </a:lvl1pPr>
            <a:lvl2pPr>
              <a:defRPr sz="2533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667"/>
            </a:lvl1pPr>
            <a:lvl2pPr>
              <a:defRPr sz="2533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40C12B2A-E248-716D-B876-5BA43B56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B6A2328-80A0-4E49-BD47-6E47083D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BFC8733-BBCA-7A2B-C2AC-D467CAA9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19224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/>
          <a:lstStyle>
            <a:lvl1pPr>
              <a:defRPr sz="5333" b="0" i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1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60958" indent="0">
              <a:buNone/>
              <a:defRPr sz="2533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9" y="2244971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60958" indent="0">
              <a:buNone/>
              <a:defRPr sz="2533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667" b="1"/>
            </a:lvl2pPr>
            <a:lvl3pPr>
              <a:buNone/>
              <a:defRPr sz="2400" b="1"/>
            </a:lvl3pPr>
            <a:lvl4pPr>
              <a:buNone/>
              <a:defRPr sz="2133" b="1"/>
            </a:lvl4pPr>
            <a:lvl5pPr>
              <a:buNone/>
              <a:defRPr sz="2133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4" y="2708519"/>
            <a:ext cx="5389033" cy="3886200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5">
            <a:extLst>
              <a:ext uri="{FF2B5EF4-FFF2-40B4-BE49-F238E27FC236}">
                <a16:creationId xmlns:a16="http://schemas.microsoft.com/office/drawing/2014/main" id="{93ECB21C-0B6C-9217-4D51-142FD8B7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Slide Number Placeholder 26">
            <a:extLst>
              <a:ext uri="{FF2B5EF4-FFF2-40B4-BE49-F238E27FC236}">
                <a16:creationId xmlns:a16="http://schemas.microsoft.com/office/drawing/2014/main" id="{43B952D0-51CA-EEAA-ED58-49E6F5BD99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27">
            <a:extLst>
              <a:ext uri="{FF2B5EF4-FFF2-40B4-BE49-F238E27FC236}">
                <a16:creationId xmlns:a16="http://schemas.microsoft.com/office/drawing/2014/main" id="{6DB19800-EC80-5EFF-F0ED-FFB75963CD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11590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/>
          <a:lstStyle>
            <a:lvl1pPr>
              <a:defRPr sz="5333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7EF07-8B00-0B80-31B5-5DD15EC0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7818" y="611717"/>
            <a:ext cx="1276349" cy="457200"/>
          </a:xfrm>
        </p:spPr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C1ECB-3311-FAEB-89B0-2A4E2DCF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1932D-7A08-8AF6-DB03-296FD1AA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054270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783C021B-3787-D5A3-10C4-37AAFB8C3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DE324-CD04-304C-34A2-99EEF9BE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0EA35BDD-8B0C-E39B-B1E8-4FA55BA3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48570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7995" y="1101971"/>
            <a:ext cx="4511040" cy="877824"/>
          </a:xfrm>
        </p:spPr>
        <p:txBody>
          <a:bodyPr anchor="b"/>
          <a:lstStyle>
            <a:lvl1pPr algn="l">
              <a:buNone/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12192" indent="0">
              <a:buNone/>
              <a:defRPr sz="1867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813F8C51-6CFA-99C9-E4C9-6D49430A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C919D92-1B03-26D5-5E61-2896F8E9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AE1BE7C7-44D4-7630-4DE5-D72F91DC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9665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4" y="1109160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4267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33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186751B-8D94-0B59-AE94-849D0344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8FEF9D0-2398-5C2E-7489-EC850CF8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72395E83-A9A1-1C60-A68F-9C2B5265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91582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5F17C44A-3A5C-61E9-150D-363ACF39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D4EC0FD-4F61-2ADB-96AC-1AF77B38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5C524E09-8CFF-9600-0870-4CC589C3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8816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0AF3C90C-6A31-C821-6328-38CB1315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F74705B-FB0C-7FAE-D976-9E0883FA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299A45D-C129-5A30-136D-D3CAEAA9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1072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BD9DD11-C890-A963-2341-1BA8F1679F20}"/>
              </a:ext>
            </a:extLst>
          </p:cNvPr>
          <p:cNvSpPr/>
          <p:nvPr/>
        </p:nvSpPr>
        <p:spPr>
          <a:xfrm>
            <a:off x="0" y="366184"/>
            <a:ext cx="12192000" cy="8466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EBCA77-2931-99E8-0708-A176C52030FA}"/>
              </a:ext>
            </a:extLst>
          </p:cNvPr>
          <p:cNvSpPr/>
          <p:nvPr/>
        </p:nvSpPr>
        <p:spPr>
          <a:xfrm>
            <a:off x="0" y="1"/>
            <a:ext cx="12192000" cy="311151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8FD739-28E3-3FA7-E3E7-AE033B88E045}"/>
              </a:ext>
            </a:extLst>
          </p:cNvPr>
          <p:cNvSpPr/>
          <p:nvPr/>
        </p:nvSpPr>
        <p:spPr>
          <a:xfrm>
            <a:off x="0" y="309034"/>
            <a:ext cx="12192000" cy="9101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076404-8F95-F224-4F5E-944C22C0F147}"/>
              </a:ext>
            </a:extLst>
          </p:cNvPr>
          <p:cNvSpPr/>
          <p:nvPr/>
        </p:nvSpPr>
        <p:spPr>
          <a:xfrm flipV="1">
            <a:off x="7213600" y="359834"/>
            <a:ext cx="4978400" cy="9101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32ED29-05F3-C190-4E7E-E48FEA7FC9ED}"/>
              </a:ext>
            </a:extLst>
          </p:cNvPr>
          <p:cNvSpPr/>
          <p:nvPr/>
        </p:nvSpPr>
        <p:spPr>
          <a:xfrm flipV="1">
            <a:off x="7213600" y="440267"/>
            <a:ext cx="4978400" cy="17991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 useBgFill="1">
        <p:nvSpPr>
          <p:cNvPr id="33" name="Rounded Rectangle 32">
            <a:extLst>
              <a:ext uri="{FF2B5EF4-FFF2-40B4-BE49-F238E27FC236}">
                <a16:creationId xmlns:a16="http://schemas.microsoft.com/office/drawing/2014/main" id="{C8DD0CE5-BE20-B034-0C6C-1001730184A4}"/>
              </a:ext>
            </a:extLst>
          </p:cNvPr>
          <p:cNvSpPr/>
          <p:nvPr/>
        </p:nvSpPr>
        <p:spPr bwMode="white">
          <a:xfrm>
            <a:off x="7209367" y="497418"/>
            <a:ext cx="4085167" cy="2751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 useBgFill="1">
        <p:nvSpPr>
          <p:cNvPr id="34" name="Rounded Rectangle 33">
            <a:extLst>
              <a:ext uri="{FF2B5EF4-FFF2-40B4-BE49-F238E27FC236}">
                <a16:creationId xmlns:a16="http://schemas.microsoft.com/office/drawing/2014/main" id="{1B106103-8E1D-DEEB-68AC-D4DDF8CB8607}"/>
              </a:ext>
            </a:extLst>
          </p:cNvPr>
          <p:cNvSpPr/>
          <p:nvPr/>
        </p:nvSpPr>
        <p:spPr bwMode="white">
          <a:xfrm>
            <a:off x="9831917" y="588434"/>
            <a:ext cx="2133600" cy="38100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83BF45-ACCB-D807-33F3-9A1A09E165F5}"/>
              </a:ext>
            </a:extLst>
          </p:cNvPr>
          <p:cNvSpPr/>
          <p:nvPr/>
        </p:nvSpPr>
        <p:spPr bwMode="invGray">
          <a:xfrm>
            <a:off x="12113684" y="-2117"/>
            <a:ext cx="76200" cy="622301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A4F3F6-847A-55AF-23F0-6D8743F1F061}"/>
              </a:ext>
            </a:extLst>
          </p:cNvPr>
          <p:cNvSpPr/>
          <p:nvPr/>
        </p:nvSpPr>
        <p:spPr bwMode="invGray">
          <a:xfrm>
            <a:off x="12058651" y="-2117"/>
            <a:ext cx="38100" cy="622301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F335F5-4DE5-3B5D-0046-063CD11FBB38}"/>
              </a:ext>
            </a:extLst>
          </p:cNvPr>
          <p:cNvSpPr/>
          <p:nvPr/>
        </p:nvSpPr>
        <p:spPr bwMode="invGray">
          <a:xfrm>
            <a:off x="12033251" y="-2117"/>
            <a:ext cx="12700" cy="622301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8AC206-AA97-F3DF-58E7-14FA03349D68}"/>
              </a:ext>
            </a:extLst>
          </p:cNvPr>
          <p:cNvSpPr/>
          <p:nvPr/>
        </p:nvSpPr>
        <p:spPr bwMode="invGray">
          <a:xfrm>
            <a:off x="11967633" y="-2117"/>
            <a:ext cx="35984" cy="622301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28BA85-F9E8-E1FD-D985-4FFD2DB26902}"/>
              </a:ext>
            </a:extLst>
          </p:cNvPr>
          <p:cNvSpPr/>
          <p:nvPr/>
        </p:nvSpPr>
        <p:spPr bwMode="invGray">
          <a:xfrm>
            <a:off x="11887201" y="0"/>
            <a:ext cx="74084" cy="586317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538496-9BC3-F802-BD93-16825E747D64}"/>
              </a:ext>
            </a:extLst>
          </p:cNvPr>
          <p:cNvSpPr/>
          <p:nvPr/>
        </p:nvSpPr>
        <p:spPr bwMode="invGray">
          <a:xfrm>
            <a:off x="11832167" y="0"/>
            <a:ext cx="10584" cy="586317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/>
          </a:p>
        </p:txBody>
      </p:sp>
      <p:sp>
        <p:nvSpPr>
          <p:cNvPr id="1039" name="Title Placeholder 21">
            <a:extLst>
              <a:ext uri="{FF2B5EF4-FFF2-40B4-BE49-F238E27FC236}">
                <a16:creationId xmlns:a16="http://schemas.microsoft.com/office/drawing/2014/main" id="{5BD6379F-5A94-BE6B-34F4-7A4D1D2D1DE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1143000"/>
            <a:ext cx="10972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0" name="Text Placeholder 12">
            <a:extLst>
              <a:ext uri="{FF2B5EF4-FFF2-40B4-BE49-F238E27FC236}">
                <a16:creationId xmlns:a16="http://schemas.microsoft.com/office/drawing/2014/main" id="{C7550AA3-E09B-3C43-31BA-82C4C7F2BA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250018"/>
            <a:ext cx="10972800" cy="432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EA39780-2458-5B98-F837-53771895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82051" y="611717"/>
            <a:ext cx="1276349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67" smtClean="0">
                <a:solidFill>
                  <a:schemeClr val="accent2"/>
                </a:solidFill>
                <a:latin typeface="+mn-lt"/>
                <a:cs typeface="+mn-cs"/>
              </a:defRPr>
            </a:lvl1pPr>
          </a:lstStyle>
          <a:p>
            <a:fld id="{EFD6C7B9-7CC0-4911-9AF6-AED46E45886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7AF6D3-C923-8152-2477-EB28ADD9A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10401" y="611717"/>
            <a:ext cx="1767417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67">
                <a:solidFill>
                  <a:schemeClr val="accent2"/>
                </a:solidFill>
                <a:latin typeface="+mn-lt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CE030E1-ADF2-68FA-FEE1-5B6153E89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8717" y="2118"/>
            <a:ext cx="1016000" cy="36618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98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slow"/>
  <p:txStyles>
    <p:titleStyle>
      <a:lvl1pPr algn="l" rtl="0" eaLnBrk="1" fontAlgn="base" hangingPunct="1">
        <a:spcBef>
          <a:spcPct val="0"/>
        </a:spcBef>
        <a:spcAft>
          <a:spcPct val="0"/>
        </a:spcAft>
        <a:defRPr sz="5333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5333">
          <a:solidFill>
            <a:schemeClr val="tx2"/>
          </a:solidFill>
          <a:latin typeface="Trebuchet MS" panose="020B0603020202020204" pitchFamily="34" charset="0"/>
        </a:defRPr>
      </a:lvl9pPr>
    </p:titleStyle>
    <p:bodyStyle>
      <a:lvl1pPr marL="486821" indent="-340775" algn="l" rtl="0" eaLnBrk="1" fontAlgn="base" hangingPunct="1">
        <a:spcBef>
          <a:spcPts val="4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876278" indent="-328076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3467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29753" indent="-292093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32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572645" indent="-266693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933" kern="1200">
          <a:solidFill>
            <a:schemeClr val="accent1"/>
          </a:solidFill>
          <a:latin typeface="+mn-lt"/>
          <a:ea typeface="+mn-ea"/>
          <a:cs typeface="+mn-cs"/>
        </a:defRPr>
      </a:lvl4pPr>
      <a:lvl5pPr marL="1852038" indent="-243411" algn="l" rtl="0" eaLnBrk="1" fontAlgn="base" hangingPunct="1">
        <a:spcBef>
          <a:spcPts val="4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667" kern="1200">
          <a:solidFill>
            <a:srgbClr val="A04DA3"/>
          </a:solidFill>
          <a:latin typeface="+mn-lt"/>
          <a:ea typeface="+mn-ea"/>
          <a:cs typeface="+mn-cs"/>
        </a:defRPr>
      </a:lvl5pPr>
      <a:lvl6pPr marL="2145738" indent="-243834" algn="l" rtl="0" eaLnBrk="1" latinLnBrk="0" hangingPunct="1">
        <a:spcBef>
          <a:spcPts val="400"/>
        </a:spcBef>
        <a:buClr>
          <a:schemeClr val="accent3"/>
        </a:buClr>
        <a:buFont typeface="Georgia"/>
        <a:buChar char="▫"/>
        <a:defRPr kumimoji="0" sz="24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438339" indent="-243834" algn="l" rtl="0" eaLnBrk="1" latinLnBrk="0" hangingPunct="1">
        <a:spcBef>
          <a:spcPts val="400"/>
        </a:spcBef>
        <a:buClr>
          <a:schemeClr val="accent3"/>
        </a:buClr>
        <a:buFont typeface="Georgia"/>
        <a:buChar char="▫"/>
        <a:defRPr kumimoji="0" sz="2133" kern="1200">
          <a:solidFill>
            <a:schemeClr val="accent3"/>
          </a:solidFill>
          <a:latin typeface="+mn-lt"/>
          <a:ea typeface="+mn-ea"/>
          <a:cs typeface="+mn-cs"/>
        </a:defRPr>
      </a:lvl7pPr>
      <a:lvl8pPr marL="2706556" indent="-243834" algn="l" rtl="0" eaLnBrk="1" latinLnBrk="0" hangingPunct="1">
        <a:spcBef>
          <a:spcPts val="400"/>
        </a:spcBef>
        <a:buClr>
          <a:schemeClr val="accent3"/>
        </a:buClr>
        <a:buFont typeface="Georgia"/>
        <a:buChar char="◦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986965" indent="-243834" algn="l" rtl="0" eaLnBrk="1" latinLnBrk="0" hangingPunct="1">
        <a:spcBef>
          <a:spcPts val="400"/>
        </a:spcBef>
        <a:buClr>
          <a:schemeClr val="accent3"/>
        </a:buClr>
        <a:buFont typeface="Georgia"/>
        <a:buChar char="◦"/>
        <a:defRPr kumimoji="0" sz="1867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430" y="1302758"/>
            <a:ext cx="11277600" cy="1470025"/>
          </a:xfrm>
        </p:spPr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429" y="808165"/>
            <a:ext cx="10404295" cy="757149"/>
          </a:xfrm>
        </p:spPr>
        <p:txBody>
          <a:bodyPr>
            <a:noAutofit/>
          </a:bodyPr>
          <a:lstStyle/>
          <a:p>
            <a:r>
              <a:rPr lang="en-IN" sz="54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     Major Project Presentation</a:t>
            </a:r>
            <a:endParaRPr lang="en-IN" sz="3200" b="1" dirty="0">
              <a:solidFill>
                <a:schemeClr val="bg1">
                  <a:lumMod val="95000"/>
                </a:schemeClr>
              </a:solidFill>
              <a:latin typeface="Trebuchet MS" panose="020B0603020202020204" pitchFamily="34" charset="0"/>
            </a:endParaRPr>
          </a:p>
          <a:p>
            <a:pPr algn="ctr"/>
            <a:endParaRPr lang="en-IN" dirty="0"/>
          </a:p>
          <a:p>
            <a:pPr algn="ctr"/>
            <a:r>
              <a:rPr lang="en-IN" sz="3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“</a:t>
            </a:r>
            <a:r>
              <a:rPr lang="en-IN" sz="3600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SmartChem</a:t>
            </a:r>
            <a:r>
              <a:rPr lang="en-IN" sz="3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– An </a:t>
            </a:r>
            <a:r>
              <a:rPr lang="da-DK" sz="3600" dirty="0">
                <a:solidFill>
                  <a:schemeClr val="bg1"/>
                </a:solidFill>
                <a:latin typeface="+mj-lt"/>
              </a:rPr>
              <a:t>Intelligent De Novo Molecule Generation Platform for Drug Discovery</a:t>
            </a:r>
            <a:r>
              <a:rPr lang="en-IN" sz="3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”</a:t>
            </a:r>
            <a:endParaRPr lang="en-IN" dirty="0">
              <a:latin typeface="Trebuchet MS" panose="020B0603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7E1CBB-AF57-3F2D-3AD0-7A6F5C29C0A9}"/>
              </a:ext>
            </a:extLst>
          </p:cNvPr>
          <p:cNvSpPr/>
          <p:nvPr/>
        </p:nvSpPr>
        <p:spPr>
          <a:xfrm>
            <a:off x="122406" y="4085218"/>
            <a:ext cx="6292824" cy="2037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latin typeface="Trebuchet MS" panose="020B0603020202020204" pitchFamily="34" charset="0"/>
              </a:rPr>
              <a:t>Nishant Singh Bisht (2200100100228)</a:t>
            </a:r>
          </a:p>
          <a:p>
            <a:pPr algn="just"/>
            <a:r>
              <a:rPr lang="en-US" sz="2400" dirty="0">
                <a:latin typeface="Trebuchet MS" panose="020B0603020202020204" pitchFamily="34" charset="0"/>
              </a:rPr>
              <a:t>Navya Singh (2200100100219)</a:t>
            </a:r>
          </a:p>
          <a:p>
            <a:pPr algn="just"/>
            <a:r>
              <a:rPr lang="en-US" sz="2400" dirty="0">
                <a:latin typeface="Trebuchet MS" panose="020B0603020202020204" pitchFamily="34" charset="0"/>
              </a:rPr>
              <a:t>Nishant Kumar Singh(2200100100225)</a:t>
            </a:r>
          </a:p>
          <a:p>
            <a:pPr algn="just"/>
            <a:r>
              <a:rPr lang="en-US" sz="2400" dirty="0">
                <a:latin typeface="Trebuchet MS" panose="020B0603020202020204" pitchFamily="34" charset="0"/>
              </a:rPr>
              <a:t>Shivam Sahani (2200100100313)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87A37-ABBE-4829-8449-9CB9225BF1BE}"/>
              </a:ext>
            </a:extLst>
          </p:cNvPr>
          <p:cNvSpPr/>
          <p:nvPr/>
        </p:nvSpPr>
        <p:spPr>
          <a:xfrm>
            <a:off x="7311526" y="4369090"/>
            <a:ext cx="4637320" cy="14700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800" dirty="0">
                <a:latin typeface="Trebuchet MS" panose="020B0603020202020204" pitchFamily="34" charset="0"/>
              </a:rPr>
              <a:t>Under The Supervision of:</a:t>
            </a:r>
          </a:p>
          <a:p>
            <a:pPr algn="just"/>
            <a:r>
              <a:rPr lang="en-US" sz="2800" dirty="0">
                <a:latin typeface="Trebuchet MS" panose="020B0603020202020204" pitchFamily="34" charset="0"/>
              </a:rPr>
              <a:t>Mr. Sachin Kr </a:t>
            </a:r>
            <a:r>
              <a:rPr lang="en-US" sz="2800" dirty="0" err="1">
                <a:latin typeface="Trebuchet MS" panose="020B0603020202020204" pitchFamily="34" charset="0"/>
              </a:rPr>
              <a:t>Sonker</a:t>
            </a:r>
            <a:endParaRPr lang="en-IN" sz="2800" dirty="0">
              <a:latin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53108-DE4E-E797-FD72-FD52F3D20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0" r="17774"/>
          <a:stretch>
            <a:fillRect/>
          </a:stretch>
        </p:blipFill>
        <p:spPr>
          <a:xfrm>
            <a:off x="11180724" y="5941856"/>
            <a:ext cx="965772" cy="884123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B9DD3B6-08FB-F221-8521-C2D0E925A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0" y="6064439"/>
            <a:ext cx="2290579" cy="73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26"/>
            <a:ext cx="10515600" cy="595509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Outline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385"/>
            <a:ext cx="10515600" cy="4549352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rebuchet MS" panose="020B0603020202020204" pitchFamily="34" charset="0"/>
              </a:rPr>
              <a:t>Introduction</a:t>
            </a:r>
          </a:p>
          <a:p>
            <a:r>
              <a:rPr lang="en-IN" dirty="0">
                <a:latin typeface="Trebuchet MS" panose="020B0603020202020204" pitchFamily="34" charset="0"/>
              </a:rPr>
              <a:t>Literature Review</a:t>
            </a:r>
          </a:p>
          <a:p>
            <a:r>
              <a:rPr lang="en-US" dirty="0">
                <a:latin typeface="Trebuchet MS" panose="020B0603020202020204" pitchFamily="34" charset="0"/>
              </a:rPr>
              <a:t>Identification of Problem Domain</a:t>
            </a:r>
          </a:p>
          <a:p>
            <a:r>
              <a:rPr lang="en-IN" dirty="0">
                <a:latin typeface="Trebuchet MS" panose="020B0603020202020204" pitchFamily="34" charset="0"/>
              </a:rPr>
              <a:t>Feasibility of Project Proposal</a:t>
            </a:r>
          </a:p>
          <a:p>
            <a:r>
              <a:rPr lang="en-IN" dirty="0">
                <a:latin typeface="Trebuchet MS" panose="020B0603020202020204" pitchFamily="34" charset="0"/>
              </a:rPr>
              <a:t>Objectives</a:t>
            </a:r>
          </a:p>
          <a:p>
            <a:r>
              <a:rPr lang="en-US" dirty="0">
                <a:latin typeface="Trebuchet MS" panose="020B0603020202020204" pitchFamily="34" charset="0"/>
              </a:rPr>
              <a:t>Methodology of the Proposed Work</a:t>
            </a:r>
          </a:p>
          <a:p>
            <a:r>
              <a:rPr lang="en-US" dirty="0">
                <a:latin typeface="Trebuchet MS" panose="020B0603020202020204" pitchFamily="34" charset="0"/>
              </a:rPr>
              <a:t>Project Roadmap &amp; Timeline</a:t>
            </a:r>
          </a:p>
          <a:p>
            <a:r>
              <a:rPr lang="en-US" dirty="0">
                <a:latin typeface="Trebuchet MS" panose="020B0603020202020204" pitchFamily="34" charset="0"/>
              </a:rPr>
              <a:t>Progress Till Date</a:t>
            </a:r>
          </a:p>
          <a:p>
            <a:r>
              <a:rPr lang="en-US" dirty="0">
                <a:latin typeface="Trebuchet MS" panose="020B0603020202020204" pitchFamily="34" charset="0"/>
              </a:rPr>
              <a:t>Future Work</a:t>
            </a:r>
          </a:p>
          <a:p>
            <a:r>
              <a:rPr lang="en-US" dirty="0">
                <a:latin typeface="Trebuchet MS" panose="020B0603020202020204" pitchFamily="34" charset="0"/>
              </a:rPr>
              <a:t>Conclusion</a:t>
            </a:r>
          </a:p>
          <a:p>
            <a:r>
              <a:rPr lang="en-US" dirty="0">
                <a:latin typeface="Trebuchet MS" panose="020B0603020202020204" pitchFamily="34" charset="0"/>
              </a:rPr>
              <a:t>References</a:t>
            </a:r>
            <a:endParaRPr lang="en-IN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9" y="6056813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52F6-A079-342A-72A9-9C63EE555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1" r="16522"/>
          <a:stretch>
            <a:fillRect/>
          </a:stretch>
        </p:blipFill>
        <p:spPr>
          <a:xfrm>
            <a:off x="11188556" y="5941151"/>
            <a:ext cx="972621" cy="88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Introduction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048C48-19D0-B154-6352-AF0418FCF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5D309C-D376-EE5D-B995-0A116208D9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718" y="1521995"/>
            <a:ext cx="10852651" cy="418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Drug discovery is slow, costly, and requires screening millions of molecules</a:t>
            </a:r>
          </a:p>
          <a:p>
            <a:pPr marL="0" lvl="0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sz="2400" dirty="0"/>
              <a:t> Early-stage “Lead Identification” is a major bottleneck</a:t>
            </a:r>
          </a:p>
          <a:p>
            <a:pPr marL="0" lvl="0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SmartChem</a:t>
            </a:r>
            <a:r>
              <a:rPr lang="en-US" sz="2400" dirty="0"/>
              <a:t> accelerates this using AI-driven molecular generation</a:t>
            </a:r>
          </a:p>
          <a:p>
            <a:pPr marL="0" lvl="0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2400" dirty="0"/>
              <a:t> Platform capabilities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389457" lvl="1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De-Novo </a:t>
            </a:r>
            <a:r>
              <a:rPr lang="en-US" altLang="en-US" sz="2000" b="1" dirty="0">
                <a:solidFill>
                  <a:schemeClr val="tx1"/>
                </a:solidFill>
              </a:rPr>
              <a:t>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olecule Generation</a:t>
            </a:r>
          </a:p>
          <a:p>
            <a:pPr marL="389457" lvl="1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Virtual Screening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(ADMET + Toxicity)</a:t>
            </a:r>
          </a:p>
          <a:p>
            <a:pPr marL="389457" lvl="1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Smart Assistant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powered by LLMs</a:t>
            </a:r>
          </a:p>
          <a:p>
            <a:pPr marL="0" lvl="0" indent="0" eaLnBrk="0" hangingPunct="0">
              <a:lnSpc>
                <a:spcPct val="15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sz="2400" dirty="0"/>
              <a:t> End-to-end system integrating ML, backend, and UI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E33C-4F2B-0ED5-86A6-A22E5A3A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265AE-D1A9-F27B-372C-79807B707B7E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750803E5-BB54-229F-CC1D-FE783B84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020"/>
            <a:ext cx="10515600" cy="368058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Literature Review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E183A9C-8ED0-3429-5C6D-4502EC715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826AA7-0AA8-DD67-8170-DC34F89AC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10E95-44AE-16D0-6ECE-194D50B978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131" y="1906863"/>
            <a:ext cx="11625869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Variational Autoencoders (VAE)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been used for de novo molecular generation in SMILES/SELFIES space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Latent space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common approach for targeted molecule design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RDKit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widely used for molecular property calculation (QED,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MW)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LLMs in chemistry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Context-aware suggestions improve understanding of molecular behavior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platforms are complex—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SmartChem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simplifies research workflows for academic usage</a:t>
            </a:r>
          </a:p>
        </p:txBody>
      </p:sp>
    </p:spTree>
    <p:extLst>
      <p:ext uri="{BB962C8B-B14F-4D97-AF65-F5344CB8AC3E}">
        <p14:creationId xmlns:p14="http://schemas.microsoft.com/office/powerpoint/2010/main" val="3466907587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33C0-DEEF-7E65-1921-8D51310A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5EF4A21-3183-560B-57FD-C8EF2574D84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0FD1C8B-E0EA-446B-384C-90E5F591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Identification of Problem Domain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6C351C5B-B675-120B-09FC-0D5784667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4B03DB9-7C65-47B0-C166-E8FC3D5B6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F7CE0B-E7C4-1EBB-B1C8-ABC1B7B40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451" y="2168917"/>
            <a:ext cx="11765730" cy="2794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synthesis and screening of molecules is expensive and slow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Students lack access to professional computational chemistry tools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 to understand complex molecular properties without visual + AI assistance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unified tool exists in your domain integrating generation, analysis, and assistant guidance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56140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31D7F-6597-2298-4392-2BFAE654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B6AF75-BA6D-DC18-7701-9EBE355A07D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1AB71B-CC43-A6F4-E68F-43CA77E3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Feasibility of Project Proposal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6A07240-314B-24FC-8386-4D177574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72" y="1518725"/>
            <a:ext cx="11548151" cy="4538015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/>
              <a:t>Technical Feasibility</a:t>
            </a:r>
            <a:endParaRPr lang="en-IN" sz="24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ML pipeline uses lightweight </a:t>
            </a:r>
            <a:r>
              <a:rPr lang="en-IN" sz="2000" dirty="0" err="1">
                <a:solidFill>
                  <a:schemeClr val="tx1"/>
                </a:solidFill>
              </a:rPr>
              <a:t>PyTorch</a:t>
            </a:r>
            <a:r>
              <a:rPr lang="en-IN" sz="2000" dirty="0">
                <a:solidFill>
                  <a:schemeClr val="tx1"/>
                </a:solidFill>
              </a:rPr>
              <a:t> models trained/offline-loaded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FastAPI backend efficiently handles generation, optimization, and database access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MongoDB Atlas enables scalable cloud storage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3Dmol.js renders molecules directly in the browser</a:t>
            </a:r>
          </a:p>
          <a:p>
            <a:pPr marL="146046" indent="0">
              <a:buNone/>
            </a:pPr>
            <a:endParaRPr lang="en-IN" sz="20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/>
              <a:t>Operational Feasibility</a:t>
            </a:r>
            <a:endParaRPr lang="en-IN" sz="24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Students can easily explore molecular design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Single-click workflows for generation → analysis → saving</a:t>
            </a:r>
          </a:p>
          <a:p>
            <a:pPr marL="146046" indent="0">
              <a:buNone/>
            </a:pPr>
            <a:endParaRPr lang="en-IN" sz="2000" dirty="0"/>
          </a:p>
          <a:p>
            <a:pPr>
              <a:buClr>
                <a:schemeClr val="bg2">
                  <a:lumMod val="10000"/>
                </a:schemeClr>
              </a:buClr>
            </a:pPr>
            <a:r>
              <a:rPr lang="en-IN" sz="2400" b="1" dirty="0"/>
              <a:t>Economic Feasibility</a:t>
            </a:r>
            <a:endParaRPr lang="en-IN" sz="24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1"/>
                </a:solidFill>
              </a:rPr>
              <a:t>Entire system uses open-source libraries + free </a:t>
            </a:r>
            <a:r>
              <a:rPr lang="en-IN" sz="2000" dirty="0" err="1">
                <a:solidFill>
                  <a:schemeClr val="tx1"/>
                </a:solidFill>
              </a:rPr>
              <a:t>Groq</a:t>
            </a:r>
            <a:r>
              <a:rPr lang="en-IN" sz="2000" dirty="0">
                <a:solidFill>
                  <a:schemeClr val="tx1"/>
                </a:solidFill>
              </a:rPr>
              <a:t> API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08F60B58-3590-7C08-6277-4FB9DA99C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3627D39-5A90-7422-1978-6617D4B0E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2629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3E6C-293F-06FE-884A-98FBFBA1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278A913-952E-CA25-9B3C-D2438372F4E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56071F4-F058-D015-72BF-EACAF909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Objectives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17597DEF-CB64-3279-0528-9D71A1184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3D101C-6457-4332-4AA6-1992802A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F29A60-A7D3-CD19-C9A5-1794DBDE11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450" y="2168789"/>
            <a:ext cx="11469807" cy="2795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an end-to-end platform for AI-assisted molecule creation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 users to generate random or targeted molecules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VAE + Predictor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Virtual Lab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structural, ADMET, and toxicity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Assistant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powered by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Llama-3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Allow storing molecules in organized projects via MongoDB</a:t>
            </a:r>
          </a:p>
        </p:txBody>
      </p:sp>
    </p:spTree>
    <p:extLst>
      <p:ext uri="{BB962C8B-B14F-4D97-AF65-F5344CB8AC3E}">
        <p14:creationId xmlns:p14="http://schemas.microsoft.com/office/powerpoint/2010/main" val="141074014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3CD5-7A7F-7532-0996-D9DC5068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510E3C3-D66A-DB2E-4DDD-DF7A767D08AB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00770BB-7D3B-B741-035C-7AE79A11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Methodology of the Proposed Work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9FCED4-ED6C-DC6F-8A49-8D56C97A0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1010EE0-71A1-0F89-98BC-93A196605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390BBED-3CE8-424F-4AE4-5DD9C4524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2114"/>
            <a:ext cx="11009466" cy="439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Representation: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SELFIES → One-hot encoding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Loading: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VAE + Predictor loaded on backend startup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Generation Methods: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32357" lvl="1" indent="-342900" eaLnBrk="0" hangingPunct="0">
              <a:spcBef>
                <a:spcPct val="0"/>
              </a:spcBef>
              <a:spcAft>
                <a:spcPts val="50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Random sampling from latent space</a:t>
            </a:r>
          </a:p>
          <a:p>
            <a:pPr marL="732357" lvl="1" indent="-342900" eaLnBrk="0" hangingPunct="0">
              <a:spcBef>
                <a:spcPct val="0"/>
              </a:spcBef>
              <a:spcAft>
                <a:spcPts val="50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Targeted optimization using gradient descent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Property Calculation: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RDKit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QED,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MW, ADMET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Virtual Lab: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32357" lvl="1" indent="-342900" eaLnBrk="0" hangingPunct="0">
              <a:spcBef>
                <a:spcPct val="0"/>
              </a:spcBef>
              <a:spcAft>
                <a:spcPts val="50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3Dmol.js for rendering</a:t>
            </a:r>
          </a:p>
          <a:p>
            <a:pPr marL="732357" lvl="1" indent="-342900" eaLnBrk="0" hangingPunct="0">
              <a:spcBef>
                <a:spcPct val="0"/>
              </a:spcBef>
              <a:spcAft>
                <a:spcPts val="50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Assistant uses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API with molecule context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MongoDB storing users → projects → molecules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Frontend: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React + JWT Authentication + REST API</a:t>
            </a:r>
          </a:p>
        </p:txBody>
      </p:sp>
    </p:spTree>
    <p:extLst>
      <p:ext uri="{BB962C8B-B14F-4D97-AF65-F5344CB8AC3E}">
        <p14:creationId xmlns:p14="http://schemas.microsoft.com/office/powerpoint/2010/main" val="247595874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F0342-B3DF-FC5C-B7E9-C928BB23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9F469F3-50D0-0601-E200-685B003736D1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BB317707-DF7E-12CF-F2B2-C419E476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Project Roadmap &amp; Timeline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DFC8D96-CEB8-6007-CC6B-2F82A53A3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05" y="1732336"/>
            <a:ext cx="6132346" cy="3990040"/>
          </a:xfrm>
        </p:spPr>
        <p:txBody>
          <a:bodyPr>
            <a:normAutofit fontScale="32500" lnSpcReduction="2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6200" b="1" dirty="0"/>
              <a:t>Phase 1 — Data &amp; Model Development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Dataset cleaning &amp; SELFIES tokenization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VAE architecture setup &amp; training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Property Predictor training &amp; evaluation</a:t>
            </a:r>
          </a:p>
          <a:p>
            <a:pPr marL="548202" lvl="1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sz="55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6200" b="1" dirty="0"/>
              <a:t>Phase 2 — Core Backend Development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MongoDB schema design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Authentication (JWT + Refresh tokens)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Project &amp; Molecule CRUD APIs</a:t>
            </a:r>
          </a:p>
          <a:p>
            <a:pPr marL="548202" lvl="1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sz="55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6200" b="1" dirty="0"/>
              <a:t>Phase 3 — AI Integration Layer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Connect trained VAE + Predictor to backend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Implement generation (random/targeted) APIs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5500" dirty="0"/>
              <a:t>Lead optimization workflow</a:t>
            </a:r>
          </a:p>
          <a:p>
            <a:pPr marL="146046" indent="0">
              <a:buNone/>
            </a:pPr>
            <a:endParaRPr lang="en-IN" sz="32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B93D11B9-22D8-70B6-A3F6-7F5BF7DF5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643EE2-B3A8-9538-DBB4-D4C304706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C0896DA7-DFC2-84C2-6AFB-2BED47368192}"/>
              </a:ext>
            </a:extLst>
          </p:cNvPr>
          <p:cNvSpPr txBox="1">
            <a:spLocks/>
          </p:cNvSpPr>
          <p:nvPr/>
        </p:nvSpPr>
        <p:spPr bwMode="auto">
          <a:xfrm>
            <a:off x="6541025" y="1732336"/>
            <a:ext cx="5306641" cy="331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486821" indent="-340775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76278" indent="-328076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3467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229753" indent="-292093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3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572645" indent="-266693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933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852038" indent="-243411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667" kern="1200">
                <a:solidFill>
                  <a:srgbClr val="A04DA3"/>
                </a:solidFill>
                <a:latin typeface="+mn-lt"/>
                <a:ea typeface="+mn-ea"/>
                <a:cs typeface="+mn-cs"/>
              </a:defRPr>
            </a:lvl5pPr>
            <a:lvl6pPr marL="2145738" indent="-243834" algn="l" rtl="0" eaLnBrk="1" latinLnBrk="0" hangingPunct="1">
              <a:spcBef>
                <a:spcPts val="400"/>
              </a:spcBef>
              <a:buClr>
                <a:schemeClr val="accent3"/>
              </a:buClr>
              <a:buFont typeface="Georgia"/>
              <a:buChar char="▫"/>
              <a:defRPr kumimoji="0" sz="24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2438339" indent="-243834" algn="l" rtl="0" eaLnBrk="1" latinLnBrk="0" hangingPunct="1">
              <a:spcBef>
                <a:spcPts val="400"/>
              </a:spcBef>
              <a:buClr>
                <a:schemeClr val="accent3"/>
              </a:buClr>
              <a:buFont typeface="Georgia"/>
              <a:buChar char="▫"/>
              <a:defRPr kumimoji="0" sz="2133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706556" indent="-243834" algn="l" rtl="0" eaLnBrk="1" latinLnBrk="0" hangingPunct="1">
              <a:spcBef>
                <a:spcPts val="400"/>
              </a:spcBef>
              <a:buClr>
                <a:schemeClr val="accent3"/>
              </a:buClr>
              <a:buFont typeface="Georgia"/>
              <a:buChar char="◦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986965" indent="-243834" algn="l" rtl="0" eaLnBrk="1" latinLnBrk="0" hangingPunct="1">
              <a:spcBef>
                <a:spcPts val="400"/>
              </a:spcBef>
              <a:buClr>
                <a:schemeClr val="accent3"/>
              </a:buClr>
              <a:buFont typeface="Georgia"/>
              <a:buChar char="◦"/>
              <a:defRPr kumimoji="0" sz="1867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600" b="1" dirty="0"/>
              <a:t>Phase 4 — Virtual lab &amp;  Frontend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200" dirty="0"/>
              <a:t>3D structure generation &amp; viewer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200" dirty="0"/>
              <a:t>Property computation &amp; analysis panels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200" dirty="0"/>
              <a:t>Chat-based Smart Assistant integration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300" dirty="0"/>
              <a:t>Library + Design Studio UI</a:t>
            </a:r>
          </a:p>
          <a:p>
            <a:pPr marL="548202" lvl="1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sz="33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600" b="1" dirty="0"/>
              <a:t>Phase 5 — Testing &amp; Finalization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200" dirty="0"/>
              <a:t>End-to-end integration testing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200" dirty="0"/>
              <a:t>Performance tuning &amp; bug fixes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3200" dirty="0"/>
              <a:t>Preparing demonstration workflows</a:t>
            </a:r>
          </a:p>
          <a:p>
            <a:pPr marL="146046" indent="0">
              <a:buFont typeface="Georgia" panose="02040502050405020303" pitchFamily="18" charset="0"/>
              <a:buNone/>
            </a:pPr>
            <a:endParaRPr lang="en-IN" sz="32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540929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ECB1-0A3A-220B-2A82-DEE8C4A0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385D1764-593F-DED0-B0A2-85169A7C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Progress Till Date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ADF02CA-DD68-2B36-ABA3-873878DA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5813EE-2B56-F87E-0227-E405DC34F6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444CF9-55DA-7EFB-3341-B0C44D2533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450" y="1614791"/>
            <a:ext cx="10908868" cy="3903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Fully working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VAE generator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FastAPI backend running with JWT auth + MongoDB Atlas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CRUD APIs implemented (projects + molecules)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Virtual Lab operational with 3D viewer + ADMET panel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Assistant functional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Llama-3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Frontend synced with backend using token refresh + real DB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molecule workflow completely validated</a:t>
            </a:r>
          </a:p>
        </p:txBody>
      </p:sp>
    </p:spTree>
    <p:extLst>
      <p:ext uri="{BB962C8B-B14F-4D97-AF65-F5344CB8AC3E}">
        <p14:creationId xmlns:p14="http://schemas.microsoft.com/office/powerpoint/2010/main" val="132415221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A840F5-CC37-885C-E4CB-549CD4C44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3586576"/>
            <a:ext cx="6055361" cy="3190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C6A525-08C6-2E4D-9278-9EF15DC8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653"/>
            <a:ext cx="6890089" cy="291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9108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2A0A-692C-A224-BBDC-F3D1E2CB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F2BCBDB-DA72-5971-D58A-B8D92579AC1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94EA9EE-9B46-7B1A-1B73-9575164E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Future Work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08908CD5-7027-8D48-FA3E-FADE5DCD6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968B7C2-04E4-FA2F-4AA3-E745D90EC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37616D-7C6D-EC48-718D-A47B823548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6605" y="1676273"/>
            <a:ext cx="9160182" cy="4186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hangingPunct="0">
              <a:spcBef>
                <a:spcPct val="0"/>
              </a:spcBef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Retrain &amp; Scale the VAE Model</a:t>
            </a:r>
            <a:endParaRPr lang="en-US" altLang="en-US" sz="2000" dirty="0"/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1534" dirty="0">
                <a:solidFill>
                  <a:schemeClr val="tx1"/>
                </a:solidFill>
              </a:rPr>
              <a:t>l</a:t>
            </a: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arger latent dimension, improved encoder/decoder depth</a:t>
            </a:r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1534" dirty="0">
                <a:solidFill>
                  <a:schemeClr val="tx1"/>
                </a:solidFill>
              </a:rPr>
              <a:t>t</a:t>
            </a: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rain on a bigger SELFIES dataset for higher-quality outputs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 Targeted Generation</a:t>
            </a:r>
            <a:endParaRPr lang="en-US" altLang="en-US" sz="2000" dirty="0"/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 weighting for QED / </a:t>
            </a:r>
            <a:r>
              <a:rPr kumimoji="0" lang="en-US" altLang="en-US" sz="1534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LogP</a:t>
            </a: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SAS</a:t>
            </a:r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multi-objective optimization with smoother convergence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Property Predictor</a:t>
            </a:r>
            <a:endParaRPr lang="en-US" altLang="en-US" sz="2000" dirty="0"/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more molecular descriptors</a:t>
            </a:r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fine-tune using richer curated datasets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Reinforcement Learning for Molecule Design</a:t>
            </a:r>
            <a:endParaRPr lang="en-US" altLang="en-US" sz="2000" dirty="0"/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RL agent to guide generation toward user-defined goals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User-Driven Model Retraining</a:t>
            </a:r>
            <a:endParaRPr lang="en-US" altLang="en-US" sz="2000" dirty="0"/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interface to upload custom datasets and retrain models</a:t>
            </a:r>
            <a:endParaRPr kumimoji="0" lang="en-US" altLang="en-US" sz="1734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Lead Optimization Engine</a:t>
            </a:r>
          </a:p>
          <a:p>
            <a:pPr marL="732357" lvl="1" indent="-342900" eaLnBrk="0" hangingPunct="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kumimoji="0" lang="en-US" altLang="en-US" sz="1534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gradient + evolutionary search for better exploration</a:t>
            </a:r>
          </a:p>
        </p:txBody>
      </p:sp>
    </p:spTree>
    <p:extLst>
      <p:ext uri="{BB962C8B-B14F-4D97-AF65-F5344CB8AC3E}">
        <p14:creationId xmlns:p14="http://schemas.microsoft.com/office/powerpoint/2010/main" val="3290460406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E899-4EEB-FDE7-133D-583EB12C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A45989F-B95A-BA7F-858C-EF2F5E93C82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3B4C836D-672B-758C-AE29-00A0DC46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Conclusion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FA96D94-AAE2-3C92-48A9-0BE7219C5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93BCF7-3726-4B9D-69C0-34D273787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B0E9A-26DA-2864-EB1B-FC7E2B8B82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450" y="2445788"/>
            <a:ext cx="10407016" cy="224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SmartChem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demonstrates how AI can accelerate early-stage drug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Combines generative modeling, analysis, and LLM-guided insights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a complete learning and experimentation ecosystem for students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Framework is extensible for advanced research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3437375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BA724-B6D5-5ED1-308E-CC3147B4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7817BAA-0D9F-0CDA-1B5F-BB1461017584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FAA1307-FB4E-F1C2-E552-D92D7BF46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128"/>
            <a:ext cx="10515600" cy="53395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Trebuchet MS" panose="020B0603020202020204" pitchFamily="34" charset="0"/>
              </a:rPr>
              <a:t>References</a:t>
            </a:r>
            <a:endParaRPr lang="en-IN" sz="4000" dirty="0">
              <a:latin typeface="Trebuchet MS" panose="020B0603020202020204" pitchFamily="34" charset="0"/>
            </a:endParaRP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61B34966-3879-6164-E16D-B21FB0EE4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" y="5948737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BC3B26-CD66-971A-8FAE-21C82FBB9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4" r="17894"/>
          <a:stretch>
            <a:fillRect/>
          </a:stretch>
        </p:blipFill>
        <p:spPr>
          <a:xfrm>
            <a:off x="11209107" y="5928189"/>
            <a:ext cx="931523" cy="88412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5006E0-C878-6116-7E60-EC7ED0B4B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450" y="1891790"/>
            <a:ext cx="8446543" cy="3349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RDKit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Open-source cheminformatics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SELFIES: Self-Referencing Embedded Strings (Krenn et al.)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VAE: Kingma &amp; Welling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Groq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LLM API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official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 Atlas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59530108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4765341-99A8-4D16-B2CA-1CD70A4492BF}" vid="{DBFC1341-2C64-45BF-AEA0-DCB5C79D74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335</TotalTime>
  <Words>823</Words>
  <Application>Microsoft Office PowerPoint</Application>
  <PresentationFormat>Widescreen</PresentationFormat>
  <Paragraphs>149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Georgia</vt:lpstr>
      <vt:lpstr>Trebuchet MS</vt:lpstr>
      <vt:lpstr>Wingdings</vt:lpstr>
      <vt:lpstr>Wingdings 2</vt:lpstr>
      <vt:lpstr>Theme1</vt:lpstr>
      <vt:lpstr>    </vt:lpstr>
      <vt:lpstr>Outline</vt:lpstr>
      <vt:lpstr>Introduction</vt:lpstr>
      <vt:lpstr>Literature Review</vt:lpstr>
      <vt:lpstr>Identification of Problem Domain</vt:lpstr>
      <vt:lpstr>Feasibility of Project Proposal</vt:lpstr>
      <vt:lpstr>Objectives</vt:lpstr>
      <vt:lpstr>Methodology of the Proposed Work</vt:lpstr>
      <vt:lpstr>Project Roadmap &amp; Timeline</vt:lpstr>
      <vt:lpstr>Progress Till Date</vt:lpstr>
      <vt:lpstr>PowerPoint Presentation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 Singh Bisht</dc:creator>
  <cp:lastModifiedBy>Nishant Singh Bisht</cp:lastModifiedBy>
  <cp:revision>15</cp:revision>
  <dcterms:created xsi:type="dcterms:W3CDTF">2024-08-24T09:30:54Z</dcterms:created>
  <dcterms:modified xsi:type="dcterms:W3CDTF">2026-03-31T11:58:03Z</dcterms:modified>
</cp:coreProperties>
</file>